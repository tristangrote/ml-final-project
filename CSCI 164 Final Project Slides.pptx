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9ce09db6b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d9ce09db6b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9ce09db6b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9ce09db6b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9ce09db6b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d9ce09db6b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9ce09db6b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d9ce09db6b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9ce09db6b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9ce09db6b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9ce09db6b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9ce09db6b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9ce09db6b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d9ce09db6b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9ce09db6b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9ce09db6b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9ce09db6b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d9ce09db6b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9ce09db6b_0_1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d9ce09db6b_0_1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9ce09db6b_0_1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d9ce09db6b_0_1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9ce09db6b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d9ce09db6b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59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59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9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Machine Learning Model Project</a:t>
            </a:r>
            <a:endParaRPr/>
          </a:p>
        </p:txBody>
      </p:sp>
      <p:cxnSp>
        <p:nvCxnSpPr>
          <p:cNvPr id="410" name="Google Shape;410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59"/>
          <p:cNvSpPr txBox="1"/>
          <p:nvPr/>
        </p:nvSpPr>
        <p:spPr>
          <a:xfrm>
            <a:off x="288625" y="1719650"/>
            <a:ext cx="80628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Student Performance and Customer Purchase Behavior</a:t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59"/>
          <p:cNvSpPr txBox="1"/>
          <p:nvPr/>
        </p:nvSpPr>
        <p:spPr>
          <a:xfrm>
            <a:off x="1462225" y="3418700"/>
            <a:ext cx="55053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Tristan Grote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CSCI-164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/>
          <p:nvPr/>
        </p:nvSpPr>
        <p:spPr>
          <a:xfrm>
            <a:off x="2397225" y="183312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60"/>
          <p:cNvSpPr/>
          <p:nvPr/>
        </p:nvSpPr>
        <p:spPr>
          <a:xfrm>
            <a:off x="2397225" y="183175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60"/>
          <p:cNvSpPr txBox="1"/>
          <p:nvPr>
            <p:ph type="title"/>
          </p:nvPr>
        </p:nvSpPr>
        <p:spPr>
          <a:xfrm>
            <a:off x="943350" y="453713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420" name="Google Shape;420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60"/>
          <p:cNvSpPr txBox="1"/>
          <p:nvPr>
            <p:ph idx="1" type="body"/>
          </p:nvPr>
        </p:nvSpPr>
        <p:spPr>
          <a:xfrm>
            <a:off x="2398425" y="1996068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Predict Student Success (pass/fail)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Predict customer purchase behavior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Compare model performance across datasets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Evaluate how model performance changes across datasets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2" name="Google Shape;422;p60"/>
          <p:cNvSpPr/>
          <p:nvPr/>
        </p:nvSpPr>
        <p:spPr>
          <a:xfrm rot="5400000">
            <a:off x="2727335" y="10126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3" name="Google Shape;423;p60"/>
          <p:cNvCxnSpPr/>
          <p:nvPr/>
        </p:nvCxnSpPr>
        <p:spPr>
          <a:xfrm>
            <a:off x="283850" y="3102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60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60"/>
          <p:cNvCxnSpPr/>
          <p:nvPr/>
        </p:nvCxnSpPr>
        <p:spPr>
          <a:xfrm>
            <a:off x="283850" y="3372858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60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61"/>
          <p:cNvSpPr txBox="1"/>
          <p:nvPr>
            <p:ph type="title"/>
          </p:nvPr>
        </p:nvSpPr>
        <p:spPr>
          <a:xfrm>
            <a:off x="411900" y="665575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433" name="Google Shape;433;p61"/>
          <p:cNvSpPr txBox="1"/>
          <p:nvPr>
            <p:ph idx="1" type="body"/>
          </p:nvPr>
        </p:nvSpPr>
        <p:spPr>
          <a:xfrm>
            <a:off x="1803800" y="2377775"/>
            <a:ext cx="2295600" cy="12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Student Performance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/>
              <a:t>Study time, absences, demographic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More Structured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/>
              <a:t>Target: pass/fail</a:t>
            </a:r>
            <a:endParaRPr b="1" sz="1600"/>
          </a:p>
        </p:txBody>
      </p:sp>
      <p:sp>
        <p:nvSpPr>
          <p:cNvPr id="434" name="Google Shape;434;p61"/>
          <p:cNvSpPr/>
          <p:nvPr/>
        </p:nvSpPr>
        <p:spPr>
          <a:xfrm>
            <a:off x="1233801" y="2237875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61"/>
          <p:cNvSpPr/>
          <p:nvPr/>
        </p:nvSpPr>
        <p:spPr>
          <a:xfrm>
            <a:off x="5083892" y="2237886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6" name="Google Shape;436;p61"/>
          <p:cNvCxnSpPr/>
          <p:nvPr/>
        </p:nvCxnSpPr>
        <p:spPr>
          <a:xfrm>
            <a:off x="225525" y="2021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61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61"/>
          <p:cNvSpPr txBox="1"/>
          <p:nvPr>
            <p:ph idx="1" type="body"/>
          </p:nvPr>
        </p:nvSpPr>
        <p:spPr>
          <a:xfrm>
            <a:off x="5633724" y="2377775"/>
            <a:ext cx="2381400" cy="12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Customer Purchase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Customer behavior features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More complex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Target: purchase decision</a:t>
            </a:r>
            <a:endParaRPr sz="1400"/>
          </a:p>
        </p:txBody>
      </p:sp>
      <p:sp>
        <p:nvSpPr>
          <p:cNvPr id="439" name="Google Shape;439;p61"/>
          <p:cNvSpPr txBox="1"/>
          <p:nvPr/>
        </p:nvSpPr>
        <p:spPr>
          <a:xfrm>
            <a:off x="1471200" y="3716975"/>
            <a:ext cx="342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More Structured Dataset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61"/>
          <p:cNvSpPr txBox="1"/>
          <p:nvPr/>
        </p:nvSpPr>
        <p:spPr>
          <a:xfrm>
            <a:off x="5427950" y="3716975"/>
            <a:ext cx="342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More Complex Dataset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62"/>
          <p:cNvSpPr txBox="1"/>
          <p:nvPr>
            <p:ph type="title"/>
          </p:nvPr>
        </p:nvSpPr>
        <p:spPr>
          <a:xfrm>
            <a:off x="411900" y="665575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cxnSp>
        <p:nvCxnSpPr>
          <p:cNvPr id="447" name="Google Shape;447;p62"/>
          <p:cNvCxnSpPr/>
          <p:nvPr/>
        </p:nvCxnSpPr>
        <p:spPr>
          <a:xfrm>
            <a:off x="225525" y="2021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62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62"/>
          <p:cNvSpPr txBox="1"/>
          <p:nvPr/>
        </p:nvSpPr>
        <p:spPr>
          <a:xfrm>
            <a:off x="489475" y="2454000"/>
            <a:ext cx="56742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Encoding 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categorical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variables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Scaled numerical features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Handled missing data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Removed G1 and G2 (data leakage)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Prevents overfitting 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Ensures fair model comparison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63"/>
          <p:cNvSpPr txBox="1"/>
          <p:nvPr>
            <p:ph type="title"/>
          </p:nvPr>
        </p:nvSpPr>
        <p:spPr>
          <a:xfrm>
            <a:off x="411900" y="665575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</a:t>
            </a:r>
            <a:endParaRPr/>
          </a:p>
        </p:txBody>
      </p:sp>
      <p:cxnSp>
        <p:nvCxnSpPr>
          <p:cNvPr id="456" name="Google Shape;456;p63"/>
          <p:cNvCxnSpPr/>
          <p:nvPr/>
        </p:nvCxnSpPr>
        <p:spPr>
          <a:xfrm>
            <a:off x="225525" y="2021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63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63"/>
          <p:cNvSpPr txBox="1"/>
          <p:nvPr/>
        </p:nvSpPr>
        <p:spPr>
          <a:xfrm>
            <a:off x="580050" y="2459488"/>
            <a:ext cx="53379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Logistic Regression -&gt; Linear model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K-Nearest Neighbors (KNN) -&gt; distance-based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Multi-Layer Perceptron (MLP) -&gt; non-linear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64"/>
          <p:cNvSpPr txBox="1"/>
          <p:nvPr>
            <p:ph type="title"/>
          </p:nvPr>
        </p:nvSpPr>
        <p:spPr>
          <a:xfrm>
            <a:off x="411900" y="665575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and Tuning</a:t>
            </a:r>
            <a:endParaRPr/>
          </a:p>
        </p:txBody>
      </p:sp>
      <p:cxnSp>
        <p:nvCxnSpPr>
          <p:cNvPr id="465" name="Google Shape;465;p64"/>
          <p:cNvCxnSpPr/>
          <p:nvPr/>
        </p:nvCxnSpPr>
        <p:spPr>
          <a:xfrm>
            <a:off x="225525" y="2021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64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64"/>
          <p:cNvSpPr txBox="1"/>
          <p:nvPr/>
        </p:nvSpPr>
        <p:spPr>
          <a:xfrm>
            <a:off x="635450" y="2360188"/>
            <a:ext cx="56742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80/20 train-test split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GridSearchCV for tuning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Evaluated using accuracy, F1, ROC-AUC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Cross-validation improves reliability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Tuning optimizes model performance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65"/>
          <p:cNvSpPr txBox="1"/>
          <p:nvPr>
            <p:ph type="title"/>
          </p:nvPr>
        </p:nvSpPr>
        <p:spPr>
          <a:xfrm>
            <a:off x="411900" y="682000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Performance Results</a:t>
            </a:r>
            <a:endParaRPr/>
          </a:p>
        </p:txBody>
      </p:sp>
      <p:cxnSp>
        <p:nvCxnSpPr>
          <p:cNvPr id="474" name="Google Shape;474;p65"/>
          <p:cNvCxnSpPr/>
          <p:nvPr/>
        </p:nvCxnSpPr>
        <p:spPr>
          <a:xfrm>
            <a:off x="225525" y="1640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65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65"/>
          <p:cNvSpPr txBox="1"/>
          <p:nvPr/>
        </p:nvSpPr>
        <p:spPr>
          <a:xfrm>
            <a:off x="274050" y="1702652"/>
            <a:ext cx="43653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Logistic Regression: 86.1% (best)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MLP: 82.3%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KNN: 72.2%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ROC-AUC highest: 0.94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7" name="Google Shape;477;p65" title="image.png"/>
          <p:cNvPicPr preferRelativeResize="0"/>
          <p:nvPr/>
        </p:nvPicPr>
        <p:blipFill rotWithShape="1">
          <a:blip r:embed="rId3">
            <a:alphaModFix/>
          </a:blip>
          <a:srcRect b="0" l="6412" r="14724" t="61273"/>
          <a:stretch/>
        </p:blipFill>
        <p:spPr>
          <a:xfrm>
            <a:off x="284850" y="2989975"/>
            <a:ext cx="4762500" cy="12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5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275" y="2674375"/>
            <a:ext cx="2653625" cy="2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65"/>
          <p:cNvSpPr txBox="1"/>
          <p:nvPr/>
        </p:nvSpPr>
        <p:spPr>
          <a:xfrm>
            <a:off x="4510350" y="1704702"/>
            <a:ext cx="434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 shows strong linear relationships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KNN performs worse due to sensitivity to feature scaling and noise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66"/>
          <p:cNvSpPr txBox="1"/>
          <p:nvPr>
            <p:ph type="title"/>
          </p:nvPr>
        </p:nvSpPr>
        <p:spPr>
          <a:xfrm>
            <a:off x="411900" y="665575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Purchase Results</a:t>
            </a:r>
            <a:endParaRPr/>
          </a:p>
        </p:txBody>
      </p:sp>
      <p:cxnSp>
        <p:nvCxnSpPr>
          <p:cNvPr id="486" name="Google Shape;486;p66"/>
          <p:cNvCxnSpPr/>
          <p:nvPr/>
        </p:nvCxnSpPr>
        <p:spPr>
          <a:xfrm>
            <a:off x="225525" y="1597817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6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66"/>
          <p:cNvSpPr txBox="1"/>
          <p:nvPr/>
        </p:nvSpPr>
        <p:spPr>
          <a:xfrm>
            <a:off x="388775" y="1584900"/>
            <a:ext cx="38295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MLP: 87.0% (best)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KNN: 85.0%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Logistic Regression: 82.7%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ROC-AUC highest: 0.93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66" title="image.png"/>
          <p:cNvPicPr preferRelativeResize="0"/>
          <p:nvPr/>
        </p:nvPicPr>
        <p:blipFill rotWithShape="1">
          <a:blip r:embed="rId3">
            <a:alphaModFix/>
          </a:blip>
          <a:srcRect b="1954" l="5603" r="18879" t="62706"/>
          <a:stretch/>
        </p:blipFill>
        <p:spPr>
          <a:xfrm>
            <a:off x="108900" y="3098561"/>
            <a:ext cx="5022975" cy="123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66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746" y="2619412"/>
            <a:ext cx="2480015" cy="21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6"/>
          <p:cNvSpPr txBox="1"/>
          <p:nvPr/>
        </p:nvSpPr>
        <p:spPr>
          <a:xfrm>
            <a:off x="4572000" y="1574054"/>
            <a:ext cx="38295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MLP captures 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complex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non-linear patterns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KNN performs well due to flexible decision boundaries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67"/>
          <p:cNvSpPr txBox="1"/>
          <p:nvPr>
            <p:ph type="title"/>
          </p:nvPr>
        </p:nvSpPr>
        <p:spPr>
          <a:xfrm>
            <a:off x="411900" y="665575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cxnSp>
        <p:nvCxnSpPr>
          <p:cNvPr id="498" name="Google Shape;498;p67"/>
          <p:cNvCxnSpPr/>
          <p:nvPr/>
        </p:nvCxnSpPr>
        <p:spPr>
          <a:xfrm>
            <a:off x="225525" y="2021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67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67"/>
          <p:cNvSpPr txBox="1"/>
          <p:nvPr/>
        </p:nvSpPr>
        <p:spPr>
          <a:xfrm>
            <a:off x="105300" y="2139099"/>
            <a:ext cx="4277400" cy="19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Comparisons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Student Dataset </a:t>
            </a: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-&gt; Logistic Regression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Customer Dataset</a:t>
            </a: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-&gt; MLP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KNN performance varies across datasets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Insight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 performance depends on dataset complexity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Simpler models work well on structured data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Complex models perform better on non-linear data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1" name="Google Shape;501;p67" title="image.png"/>
          <p:cNvPicPr preferRelativeResize="0"/>
          <p:nvPr/>
        </p:nvPicPr>
        <p:blipFill rotWithShape="1">
          <a:blip r:embed="rId3">
            <a:alphaModFix/>
          </a:blip>
          <a:srcRect b="0" l="3637" r="3590" t="34491"/>
          <a:stretch/>
        </p:blipFill>
        <p:spPr>
          <a:xfrm>
            <a:off x="4378713" y="2258175"/>
            <a:ext cx="4176775" cy="21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68"/>
          <p:cNvSpPr txBox="1"/>
          <p:nvPr>
            <p:ph type="title"/>
          </p:nvPr>
        </p:nvSpPr>
        <p:spPr>
          <a:xfrm>
            <a:off x="411900" y="379825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Curve Insights</a:t>
            </a:r>
            <a:endParaRPr/>
          </a:p>
        </p:txBody>
      </p:sp>
      <p:cxnSp>
        <p:nvCxnSpPr>
          <p:cNvPr id="508" name="Google Shape;508;p68"/>
          <p:cNvCxnSpPr/>
          <p:nvPr/>
        </p:nvCxnSpPr>
        <p:spPr>
          <a:xfrm>
            <a:off x="225525" y="93530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6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0" name="Google Shape;510;p6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88" y="850825"/>
            <a:ext cx="2831475" cy="207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8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600" y="2809362"/>
            <a:ext cx="2900849" cy="2126927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8"/>
          <p:cNvSpPr txBox="1"/>
          <p:nvPr/>
        </p:nvSpPr>
        <p:spPr>
          <a:xfrm>
            <a:off x="4323100" y="1417030"/>
            <a:ext cx="3733800" cy="28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Logistic Regression -&gt; best for Student dataset</a:t>
            </a: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(AUC ≈ 0.94)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MLP -&gt; best for Customer dataset </a:t>
            </a: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(AUC ≈ 0.93)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 AUC values indicate strong class separation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Results confirm model comparison findings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69"/>
          <p:cNvSpPr txBox="1"/>
          <p:nvPr>
            <p:ph type="title"/>
          </p:nvPr>
        </p:nvSpPr>
        <p:spPr>
          <a:xfrm>
            <a:off x="411900" y="665575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cxnSp>
        <p:nvCxnSpPr>
          <p:cNvPr id="519" name="Google Shape;519;p69"/>
          <p:cNvCxnSpPr/>
          <p:nvPr/>
        </p:nvCxnSpPr>
        <p:spPr>
          <a:xfrm>
            <a:off x="285450" y="12792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69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69"/>
          <p:cNvSpPr txBox="1"/>
          <p:nvPr/>
        </p:nvSpPr>
        <p:spPr>
          <a:xfrm>
            <a:off x="733125" y="1829898"/>
            <a:ext cx="6303900" cy="2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 performance depends on dataset characteristics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Logistic Regression performs well on structured, linear data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MLP performs better on complex, non-linear data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KNN performance varies depending on the dataset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Hyperparameter tuning can improve performance but not guarantee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Google Shape;526;p70"/>
          <p:cNvCxnSpPr/>
          <p:nvPr/>
        </p:nvCxnSpPr>
        <p:spPr>
          <a:xfrm>
            <a:off x="283850" y="881588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70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28" name="Google Shape;528;p7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70"/>
          <p:cNvSpPr txBox="1"/>
          <p:nvPr/>
        </p:nvSpPr>
        <p:spPr>
          <a:xfrm>
            <a:off x="940950" y="1603500"/>
            <a:ext cx="62865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Compared 3 models across 2 datasets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Logistic Regression performed best for Student Dataset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MLP 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performed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best for Customer dataset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Model performance depends on the dataset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single model is best for all problems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